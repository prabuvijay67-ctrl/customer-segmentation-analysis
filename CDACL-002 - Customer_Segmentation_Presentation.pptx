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notesMasterIdLst>
    <p:notesMasterId r:id="rId20"/>
  </p:notesMasterIdLst>
  <p:sldIdLst>
    <p:sldId id="256" r:id="rId2"/>
    <p:sldId id="264" r:id="rId3"/>
    <p:sldId id="257" r:id="rId4"/>
    <p:sldId id="258" r:id="rId5"/>
    <p:sldId id="273" r:id="rId6"/>
    <p:sldId id="274" r:id="rId7"/>
    <p:sldId id="259" r:id="rId8"/>
    <p:sldId id="263" r:id="rId9"/>
    <p:sldId id="262" r:id="rId10"/>
    <p:sldId id="266" r:id="rId11"/>
    <p:sldId id="267" r:id="rId12"/>
    <p:sldId id="268" r:id="rId13"/>
    <p:sldId id="275" r:id="rId14"/>
    <p:sldId id="276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660"/>
  </p:normalViewPr>
  <p:slideViewPr>
    <p:cSldViewPr snapToGrid="0">
      <p:cViewPr varScale="1">
        <p:scale>
          <a:sx n="63" d="100"/>
          <a:sy n="63" d="100"/>
        </p:scale>
        <p:origin x="6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E0F0F-04FC-4843-AF56-863741B3A842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7A254-56C9-4A0B-90A8-32BB050D5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865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7A254-56C9-4A0B-90A8-32BB050D5DB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495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7A254-56C9-4A0B-90A8-32BB050D5DB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71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846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812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552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44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561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92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76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886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939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931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548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091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354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7441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131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539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314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BD45F9-7FED-45CD-85AB-EBBCC1AC2A3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3540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DF08-9472-7F7F-1011-5B59A2BAC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131" y="362857"/>
            <a:ext cx="11985737" cy="2387600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CDACL-002 - Customer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4AE05-D64D-A744-D7AA-87DA831B0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074" y="3429000"/>
            <a:ext cx="10761095" cy="213481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2600" dirty="0"/>
              <a:t>Understanding Customer Behavior and Purchase Patterns</a:t>
            </a:r>
          </a:p>
          <a:p>
            <a:pPr algn="ctr"/>
            <a:r>
              <a:rPr lang="en-IN" sz="2900" b="1" dirty="0"/>
              <a:t>PRABU R</a:t>
            </a:r>
          </a:p>
          <a:p>
            <a:pPr algn="ctr"/>
            <a:r>
              <a:rPr lang="en-IN" sz="2900" b="1" dirty="0"/>
              <a:t>Datamites Internship</a:t>
            </a:r>
          </a:p>
          <a:p>
            <a:pPr algn="ctr"/>
            <a:r>
              <a:rPr lang="en-IN" sz="2900" b="1" dirty="0"/>
              <a:t>19-06-2026</a:t>
            </a:r>
          </a:p>
          <a:p>
            <a:pPr algn="ctr"/>
            <a:endParaRPr lang="en-IN" sz="2900" b="1" dirty="0"/>
          </a:p>
          <a:p>
            <a:pPr algn="ctr"/>
            <a:endParaRPr lang="en-IN" sz="2900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75245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B8AF-525C-F775-E8AE-02304932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153609"/>
            <a:ext cx="10131425" cy="1305077"/>
          </a:xfrm>
        </p:spPr>
        <p:txBody>
          <a:bodyPr/>
          <a:lstStyle/>
          <a:p>
            <a:r>
              <a:rPr lang="en-IN" b="1" u="sng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61953-F6EB-D0B3-1F0A-50C2A2714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458686"/>
            <a:ext cx="10667998" cy="4887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u="sng" dirty="0"/>
              <a:t>Objective</a:t>
            </a:r>
          </a:p>
          <a:p>
            <a:pPr marL="0" indent="0">
              <a:buNone/>
            </a:pPr>
            <a:r>
              <a:rPr lang="en-US" sz="2000" dirty="0"/>
              <a:t>    The objective of this project is to analyze customer shopping behavior and identify valuable customer segments using purchase data.</a:t>
            </a:r>
          </a:p>
          <a:p>
            <a:pPr marL="0" indent="0">
              <a:buNone/>
            </a:pPr>
            <a:r>
              <a:rPr lang="en-IN" sz="2800" u="sng" dirty="0"/>
              <a:t>Business Goals</a:t>
            </a:r>
          </a:p>
          <a:p>
            <a:r>
              <a:rPr lang="en-IN" sz="2000" dirty="0"/>
              <a:t>Identify discount opportunities.</a:t>
            </a:r>
          </a:p>
          <a:p>
            <a:r>
              <a:rPr lang="en-IN" sz="2000" dirty="0"/>
              <a:t>Analyze spending patterns.</a:t>
            </a:r>
          </a:p>
          <a:p>
            <a:r>
              <a:rPr lang="en-IN" sz="2000" dirty="0"/>
              <a:t>Segment customers.</a:t>
            </a:r>
          </a:p>
          <a:p>
            <a:r>
              <a:rPr lang="en-IN" sz="2000" dirty="0"/>
              <a:t>Improve customer retention.</a:t>
            </a:r>
          </a:p>
          <a:p>
            <a:r>
              <a:rPr lang="en-IN" sz="2000" dirty="0"/>
              <a:t>Support business decision-making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1647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A2A1C-7034-1A47-9D9F-5B591B904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Business Problem Statement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EFB10AA-48A1-FDC7-0962-29FFB6AADA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899487"/>
            <a:ext cx="1035231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Businesses need to understand: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Which product categories require discounts.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How spending varies across age groups.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The impact of seasons and locations.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How customers can be segmented for targeted marketing.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/>
              <a:t>This project helps businesses make data-driven marketing decisions using customer segmentation.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013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87F1-BF02-3F38-B564-80DD85B6B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235" y="558800"/>
            <a:ext cx="10131425" cy="519611"/>
          </a:xfrm>
        </p:spPr>
        <p:txBody>
          <a:bodyPr>
            <a:normAutofit fontScale="90000"/>
          </a:bodyPr>
          <a:lstStyle/>
          <a:p>
            <a:r>
              <a:rPr lang="en-IN" u="sng" dirty="0"/>
              <a:t>Dataset Understanding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E2364-892C-C6B5-4121-D357E1348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84400"/>
            <a:ext cx="4963159" cy="286512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sz="11200" dirty="0"/>
          </a:p>
          <a:p>
            <a:pPr marL="0" indent="0">
              <a:buNone/>
            </a:pPr>
            <a:r>
              <a:rPr lang="en-IN" sz="9600" dirty="0"/>
              <a:t>Dataset Information</a:t>
            </a:r>
          </a:p>
          <a:p>
            <a:pPr marL="0" indent="0">
              <a:buNone/>
            </a:pPr>
            <a:r>
              <a:rPr lang="en-IN" sz="7200" dirty="0"/>
              <a:t>Total Customers</a:t>
            </a:r>
            <a:r>
              <a:rPr lang="en-IN" sz="8000" dirty="0"/>
              <a:t>: </a:t>
            </a:r>
            <a:r>
              <a:rPr lang="en-IN" sz="8000" b="1" dirty="0"/>
              <a:t>3900</a:t>
            </a:r>
          </a:p>
          <a:p>
            <a:pPr marL="0" indent="0">
              <a:buNone/>
            </a:pPr>
            <a:r>
              <a:rPr lang="en-IN" sz="9600" dirty="0"/>
              <a:t>Attributes Used</a:t>
            </a:r>
          </a:p>
          <a:p>
            <a:r>
              <a:rPr lang="en-IN" sz="7200" dirty="0"/>
              <a:t>Customer_ID</a:t>
            </a:r>
          </a:p>
          <a:p>
            <a:r>
              <a:rPr lang="en-US" sz="7200" dirty="0"/>
              <a:t>Age</a:t>
            </a:r>
          </a:p>
          <a:p>
            <a:r>
              <a:rPr lang="en-US" sz="7200" dirty="0"/>
              <a:t>Gender</a:t>
            </a:r>
          </a:p>
          <a:p>
            <a:r>
              <a:rPr lang="en-US" sz="7200" dirty="0"/>
              <a:t>Category</a:t>
            </a:r>
          </a:p>
          <a:p>
            <a:r>
              <a:rPr lang="en-US" sz="7200" dirty="0"/>
              <a:t>Purchase Amount</a:t>
            </a:r>
          </a:p>
          <a:p>
            <a:r>
              <a:rPr lang="en-US" sz="7200" dirty="0"/>
              <a:t>Location</a:t>
            </a:r>
          </a:p>
          <a:p>
            <a:r>
              <a:rPr lang="en-US" sz="7200" dirty="0"/>
              <a:t>Season</a:t>
            </a:r>
          </a:p>
          <a:p>
            <a:r>
              <a:rPr lang="en-US" sz="7200" dirty="0"/>
              <a:t>Payment Method</a:t>
            </a:r>
          </a:p>
          <a:p>
            <a:r>
              <a:rPr lang="en-US" sz="7200" dirty="0"/>
              <a:t>Subscription Status</a:t>
            </a:r>
          </a:p>
          <a:p>
            <a:r>
              <a:rPr lang="en-US" sz="7200" dirty="0"/>
              <a:t>Review Rating</a:t>
            </a:r>
          </a:p>
          <a:p>
            <a:r>
              <a:rPr lang="en-US" sz="7200" dirty="0"/>
              <a:t>Frequency of Purchases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354105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BDE54-C3AD-C72D-BD8F-9639997D1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32079"/>
            <a:ext cx="10131425" cy="822960"/>
          </a:xfrm>
        </p:spPr>
        <p:txBody>
          <a:bodyPr/>
          <a:lstStyle/>
          <a:p>
            <a:r>
              <a:rPr lang="en-IN" u="sng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DE14B-0ECF-DF32-F58F-0F2BF417F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121" y="853440"/>
            <a:ext cx="10131425" cy="560832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dirty="0"/>
              <a:t>Excel Transformations</a:t>
            </a:r>
          </a:p>
          <a:p>
            <a:pPr marL="0" indent="0">
              <a:buNone/>
            </a:pPr>
            <a:r>
              <a:rPr lang="en-US" sz="1900" b="1" dirty="0"/>
              <a:t>Customer Segment Creation</a:t>
            </a:r>
          </a:p>
          <a:p>
            <a:pPr marL="0" indent="0">
              <a:buNone/>
            </a:pPr>
            <a:r>
              <a:rPr lang="en-US" sz="1900" dirty="0"/>
              <a:t>Using IF Function:</a:t>
            </a:r>
          </a:p>
          <a:p>
            <a:r>
              <a:rPr lang="en-US" sz="1900" dirty="0"/>
              <a:t>High Value</a:t>
            </a:r>
          </a:p>
          <a:p>
            <a:r>
              <a:rPr lang="en-US" sz="1900" dirty="0"/>
              <a:t>Medium Value</a:t>
            </a:r>
          </a:p>
          <a:p>
            <a:r>
              <a:rPr lang="en-US" sz="1900" dirty="0"/>
              <a:t>Low Value</a:t>
            </a:r>
          </a:p>
          <a:p>
            <a:pPr marL="0" indent="0">
              <a:buNone/>
            </a:pPr>
            <a:r>
              <a:rPr lang="en-US" sz="1900" dirty="0"/>
              <a:t>Review Category Creation</a:t>
            </a:r>
          </a:p>
          <a:p>
            <a:pPr marL="0" indent="0">
              <a:buNone/>
            </a:pPr>
            <a:r>
              <a:rPr lang="en-US" sz="2600" dirty="0"/>
              <a:t>Created based on review ratings.</a:t>
            </a:r>
          </a:p>
          <a:p>
            <a:pPr marL="0" indent="0">
              <a:buNone/>
            </a:pPr>
            <a:r>
              <a:rPr lang="en-US" sz="1900" b="1" dirty="0"/>
              <a:t>Subscription Status Conversion</a:t>
            </a:r>
          </a:p>
          <a:p>
            <a:r>
              <a:rPr lang="en-US" sz="1900" dirty="0"/>
              <a:t>Yes = 1</a:t>
            </a:r>
          </a:p>
          <a:p>
            <a:r>
              <a:rPr lang="en-US" sz="1900" dirty="0"/>
              <a:t>No = 0</a:t>
            </a:r>
          </a:p>
          <a:p>
            <a:pPr marL="0" indent="0">
              <a:buNone/>
            </a:pPr>
            <a:r>
              <a:rPr lang="en-US" sz="1900" b="1" dirty="0"/>
              <a:t>Age Group Creation</a:t>
            </a:r>
          </a:p>
          <a:p>
            <a:r>
              <a:rPr lang="en-US" sz="1900" dirty="0"/>
              <a:t>18–25</a:t>
            </a:r>
          </a:p>
          <a:p>
            <a:r>
              <a:rPr lang="en-US" sz="1900" dirty="0"/>
              <a:t>26–35</a:t>
            </a:r>
          </a:p>
          <a:p>
            <a:r>
              <a:rPr lang="en-US" sz="1900" dirty="0"/>
              <a:t>36–45</a:t>
            </a:r>
          </a:p>
          <a:p>
            <a:r>
              <a:rPr lang="en-US" sz="1900" dirty="0"/>
              <a:t>46–55</a:t>
            </a:r>
          </a:p>
          <a:p>
            <a:r>
              <a:rPr lang="en-US" sz="1900" dirty="0"/>
              <a:t>56+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082182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FD98C-2EF9-FCAA-7DE7-4F6B406C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21" y="128694"/>
            <a:ext cx="10131425" cy="1456267"/>
          </a:xfrm>
        </p:spPr>
        <p:txBody>
          <a:bodyPr/>
          <a:lstStyle/>
          <a:p>
            <a:r>
              <a:rPr lang="en-IN" u="sng" dirty="0"/>
              <a:t>Customer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531BE-6CF6-6B83-79D6-EDC9BB92B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178560"/>
            <a:ext cx="10131425" cy="5303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Clusters Created</a:t>
            </a:r>
          </a:p>
          <a:p>
            <a:pPr marL="0" indent="0">
              <a:buNone/>
            </a:pPr>
            <a:r>
              <a:rPr lang="en-US" sz="2000" dirty="0"/>
              <a:t>High Value Customers</a:t>
            </a:r>
          </a:p>
          <a:p>
            <a:r>
              <a:rPr lang="en-US" dirty="0"/>
              <a:t>High purchase amount</a:t>
            </a:r>
          </a:p>
          <a:p>
            <a:r>
              <a:rPr lang="en-US" dirty="0"/>
              <a:t>Frequent purchases</a:t>
            </a:r>
          </a:p>
          <a:p>
            <a:r>
              <a:rPr lang="en-US" dirty="0"/>
              <a:t>High revenue contribution</a:t>
            </a:r>
          </a:p>
          <a:p>
            <a:pPr marL="0" indent="0">
              <a:buNone/>
            </a:pPr>
            <a:r>
              <a:rPr lang="en-US" sz="2000" dirty="0"/>
              <a:t>Medium Value Customers</a:t>
            </a:r>
          </a:p>
          <a:p>
            <a:r>
              <a:rPr lang="en-US" dirty="0"/>
              <a:t>Regular customers</a:t>
            </a:r>
          </a:p>
          <a:p>
            <a:r>
              <a:rPr lang="en-US" dirty="0"/>
              <a:t>Moderate spending</a:t>
            </a:r>
          </a:p>
          <a:p>
            <a:pPr marL="0" indent="0">
              <a:buNone/>
            </a:pPr>
            <a:r>
              <a:rPr lang="en-US" sz="2000" dirty="0"/>
              <a:t>Low Value Customers</a:t>
            </a:r>
          </a:p>
          <a:p>
            <a:r>
              <a:rPr lang="en-US" dirty="0"/>
              <a:t>Less spending</a:t>
            </a:r>
          </a:p>
          <a:p>
            <a:r>
              <a:rPr lang="en-US" dirty="0"/>
              <a:t>Need promotional engagement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856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4D086-A141-3EF6-7548-4EEA2DE99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21" y="0"/>
            <a:ext cx="9606279" cy="609601"/>
          </a:xfrm>
        </p:spPr>
        <p:txBody>
          <a:bodyPr>
            <a:normAutofit fontScale="90000"/>
          </a:bodyPr>
          <a:lstStyle/>
          <a:p>
            <a:r>
              <a:rPr lang="en-IN" dirty="0"/>
              <a:t>Dashboard Overview</a:t>
            </a:r>
            <a:endParaRPr lang="en-IN" b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AF3D52-222A-0A16-0BE6-718B9A91F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0" y="609601"/>
            <a:ext cx="11612880" cy="6085840"/>
          </a:xfrm>
        </p:spPr>
      </p:pic>
    </p:spTree>
    <p:extLst>
      <p:ext uri="{BB962C8B-B14F-4D97-AF65-F5344CB8AC3E}">
        <p14:creationId xmlns:p14="http://schemas.microsoft.com/office/powerpoint/2010/main" val="116423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90A9-FA61-D7AC-9FE5-492A3DD26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11" y="218582"/>
            <a:ext cx="10131425" cy="487440"/>
          </a:xfrm>
        </p:spPr>
        <p:txBody>
          <a:bodyPr>
            <a:noAutofit/>
          </a:bodyPr>
          <a:lstStyle/>
          <a:p>
            <a:r>
              <a:rPr lang="en-IN" u="sng" dirty="0"/>
              <a:t>Customer Segment Analysis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7AC7AA1-C145-7DED-4560-CD4ACA4DB9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462302"/>
            <a:ext cx="798406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800" dirty="0"/>
              <a:t>Customer Segment Distribution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20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020A64-2513-E710-2C7D-220074F17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130611"/>
              </p:ext>
            </p:extLst>
          </p:nvPr>
        </p:nvGraphicFramePr>
        <p:xfrm>
          <a:off x="685800" y="2093518"/>
          <a:ext cx="5063067" cy="1584960"/>
        </p:xfrm>
        <a:graphic>
          <a:graphicData uri="http://schemas.openxmlformats.org/drawingml/2006/table">
            <a:tbl>
              <a:tblPr/>
              <a:tblGrid>
                <a:gridCol w="2616200">
                  <a:extLst>
                    <a:ext uri="{9D8B030D-6E8A-4147-A177-3AD203B41FA5}">
                      <a16:colId xmlns:a16="http://schemas.microsoft.com/office/drawing/2014/main" val="2986680460"/>
                    </a:ext>
                  </a:extLst>
                </a:gridCol>
                <a:gridCol w="2446867">
                  <a:extLst>
                    <a:ext uri="{9D8B030D-6E8A-4147-A177-3AD203B41FA5}">
                      <a16:colId xmlns:a16="http://schemas.microsoft.com/office/drawing/2014/main" val="1299407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2000" dirty="0"/>
                        <a:t>Segment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Percentage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4869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2000" dirty="0"/>
                        <a:t>Low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38.82%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4348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2000"/>
                        <a:t>Medium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36.10%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3061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2000" dirty="0"/>
                        <a:t>High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25.08%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78114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F7E7F01-312B-8198-1B3C-717236AE7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02708"/>
            <a:ext cx="9579428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</a:pPr>
            <a:r>
              <a:rPr lang="en-US" altLang="en-US" sz="2800" dirty="0"/>
              <a:t>Analysis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/>
              <a:t>Low Value customers form the largest segment.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/>
              <a:t>High Value customers contribute significant business value.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/>
              <a:t>Medium Value customers provide opportunities for growth.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</a:pPr>
            <a:r>
              <a:rPr lang="en-US" altLang="en-US" sz="2800" dirty="0"/>
              <a:t>Business Impact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/>
              <a:t>Businesses should focus on converting Low Value customers into Medium or High Value customers.</a:t>
            </a:r>
          </a:p>
        </p:txBody>
      </p:sp>
    </p:spTree>
    <p:extLst>
      <p:ext uri="{BB962C8B-B14F-4D97-AF65-F5344CB8AC3E}">
        <p14:creationId xmlns:p14="http://schemas.microsoft.com/office/powerpoint/2010/main" val="426579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C21A-C12A-752C-E46B-02D380F7A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4" y="76200"/>
            <a:ext cx="8882742" cy="728133"/>
          </a:xfrm>
        </p:spPr>
        <p:txBody>
          <a:bodyPr/>
          <a:lstStyle/>
          <a:p>
            <a:r>
              <a:rPr lang="en-IN" b="1" u="sng" dirty="0"/>
              <a:t>Revenue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8A1E3-8A12-E1D5-1C38-FBFC19B4C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06273"/>
            <a:ext cx="10131425" cy="10640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/>
              <a:t>Category-wise Purchase Analysis</a:t>
            </a:r>
          </a:p>
          <a:p>
            <a:pPr marL="0" indent="0">
              <a:buNone/>
            </a:pPr>
            <a:r>
              <a:rPr lang="en-US" sz="3000" b="1" dirty="0"/>
              <a:t>Revenue Contribution</a:t>
            </a:r>
          </a:p>
          <a:p>
            <a:endParaRPr lang="en-IN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050A438-C6A5-AE6A-19EA-946AE8DC069B}"/>
              </a:ext>
            </a:extLst>
          </p:cNvPr>
          <p:cNvSpPr txBox="1">
            <a:spLocks/>
          </p:cNvSpPr>
          <p:nvPr/>
        </p:nvSpPr>
        <p:spPr>
          <a:xfrm>
            <a:off x="685800" y="3959452"/>
            <a:ext cx="10131425" cy="2550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Key Findings</a:t>
            </a:r>
          </a:p>
          <a:p>
            <a:r>
              <a:rPr lang="en-US" sz="2000" b="1" dirty="0"/>
              <a:t>Clothing generates the highest revenue.</a:t>
            </a:r>
          </a:p>
          <a:p>
            <a:r>
              <a:rPr lang="en-US" sz="2000" b="1" dirty="0"/>
              <a:t>Accessories are the second highest contributor.</a:t>
            </a:r>
          </a:p>
          <a:p>
            <a:r>
              <a:rPr lang="en-US" sz="2000" b="1" dirty="0"/>
              <a:t>Outerwear contributes the least revenue.</a:t>
            </a:r>
          </a:p>
          <a:p>
            <a:pPr marL="0" indent="0">
              <a:buNone/>
            </a:pPr>
            <a:r>
              <a:rPr lang="en-US" sz="3000" b="1" dirty="0"/>
              <a:t>Business Impact</a:t>
            </a:r>
          </a:p>
          <a:p>
            <a:r>
              <a:rPr lang="en-US" sz="2200" b="1" dirty="0"/>
              <a:t>Marketing campaigns should prioritize Clothing and Accessories categories</a:t>
            </a:r>
            <a:r>
              <a:rPr lang="en-US" b="1" dirty="0"/>
              <a:t>.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CC101AF-DAEA-E14F-26FB-906A35E54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28276"/>
              </p:ext>
            </p:extLst>
          </p:nvPr>
        </p:nvGraphicFramePr>
        <p:xfrm>
          <a:off x="783772" y="1802871"/>
          <a:ext cx="4587125" cy="2042160"/>
        </p:xfrm>
        <a:graphic>
          <a:graphicData uri="http://schemas.openxmlformats.org/drawingml/2006/table">
            <a:tbl>
              <a:tblPr/>
              <a:tblGrid>
                <a:gridCol w="2305937">
                  <a:extLst>
                    <a:ext uri="{9D8B030D-6E8A-4147-A177-3AD203B41FA5}">
                      <a16:colId xmlns:a16="http://schemas.microsoft.com/office/drawing/2014/main" val="3385187089"/>
                    </a:ext>
                  </a:extLst>
                </a:gridCol>
                <a:gridCol w="2281188">
                  <a:extLst>
                    <a:ext uri="{9D8B030D-6E8A-4147-A177-3AD203B41FA5}">
                      <a16:colId xmlns:a16="http://schemas.microsoft.com/office/drawing/2014/main" val="2590053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2400" b="1" dirty="0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9208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2000" dirty="0"/>
                        <a:t>Clothing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104K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0314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2000"/>
                        <a:t>Accessories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74K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0130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2000"/>
                        <a:t>Footwear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36K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5677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2000" dirty="0"/>
                        <a:t>Outerwear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19K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323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683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AD53-6598-4D61-1989-F97A5FB94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9" y="108857"/>
            <a:ext cx="10131425" cy="694267"/>
          </a:xfrm>
        </p:spPr>
        <p:txBody>
          <a:bodyPr/>
          <a:lstStyle/>
          <a:p>
            <a:r>
              <a:rPr lang="en-IN" b="1" u="sng" dirty="0"/>
              <a:t>Customer Behaviour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D41C4-95F8-DC2D-B62E-773C145ED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3" y="1436913"/>
            <a:ext cx="10686597" cy="53122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1.Gender-wise Purchase Analysis</a:t>
            </a:r>
          </a:p>
          <a:p>
            <a:r>
              <a:rPr lang="en-US" sz="2200" dirty="0"/>
              <a:t>Male Customers Revenue = 158K</a:t>
            </a:r>
          </a:p>
          <a:p>
            <a:r>
              <a:rPr lang="en-US" sz="2200" dirty="0"/>
              <a:t>Female Customers Revenue = 75K</a:t>
            </a:r>
          </a:p>
          <a:p>
            <a:pPr marL="0" indent="0">
              <a:buNone/>
            </a:pPr>
            <a:r>
              <a:rPr lang="en-US" sz="2800" b="1" dirty="0"/>
              <a:t>Insight</a:t>
            </a:r>
          </a:p>
          <a:p>
            <a:pPr marL="0" indent="0">
              <a:buNone/>
            </a:pPr>
            <a:r>
              <a:rPr lang="en-US" sz="2200" b="1" dirty="0"/>
              <a:t>     </a:t>
            </a:r>
            <a:r>
              <a:rPr lang="en-US" sz="2200" dirty="0"/>
              <a:t>Male customers contribute significantly more revenue.</a:t>
            </a:r>
          </a:p>
          <a:p>
            <a:pPr marL="0" indent="0">
              <a:buNone/>
            </a:pPr>
            <a:r>
              <a:rPr lang="en-US" sz="2800" b="1" dirty="0"/>
              <a:t>2.Subscription Analysis</a:t>
            </a:r>
          </a:p>
          <a:p>
            <a:r>
              <a:rPr lang="en-US" sz="2400" dirty="0"/>
              <a:t>Active Subscribers = 27% </a:t>
            </a:r>
          </a:p>
          <a:p>
            <a:r>
              <a:rPr lang="en-US" sz="2400" dirty="0"/>
              <a:t>Non-Subscribers = 73% </a:t>
            </a:r>
          </a:p>
          <a:p>
            <a:pPr marL="0" indent="0">
              <a:buNone/>
            </a:pPr>
            <a:r>
              <a:rPr lang="en-US" sz="2800" b="1" dirty="0"/>
              <a:t>Insight</a:t>
            </a:r>
          </a:p>
          <a:p>
            <a:pPr marL="0" indent="0">
              <a:buNone/>
            </a:pPr>
            <a:r>
              <a:rPr lang="en-US" sz="2000" dirty="0"/>
              <a:t>     </a:t>
            </a:r>
            <a:r>
              <a:rPr lang="en-US" sz="2400" dirty="0"/>
              <a:t>Subscription adoption is low and requires improvement.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7878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038D0-4824-E561-7136-848149897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6" y="116841"/>
            <a:ext cx="11342913" cy="2377440"/>
          </a:xfrm>
        </p:spPr>
        <p:txBody>
          <a:bodyPr/>
          <a:lstStyle/>
          <a:p>
            <a:pPr marL="0" indent="0">
              <a:buNone/>
            </a:pPr>
            <a:r>
              <a:rPr lang="en-US" sz="2800" b="1" u="sng" dirty="0"/>
              <a:t>3.Age Group Analysis</a:t>
            </a:r>
          </a:p>
          <a:p>
            <a:pPr marL="0" indent="0">
              <a:buNone/>
            </a:pPr>
            <a:r>
              <a:rPr lang="en-US" sz="2400" b="1" dirty="0"/>
              <a:t>Average Purchase Amount by Age Group</a:t>
            </a:r>
          </a:p>
          <a:p>
            <a:pPr marL="0" indent="0">
              <a:buNone/>
            </a:pPr>
            <a:endParaRPr lang="en-US" sz="2800" b="1" dirty="0"/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090ABE-DAC8-03AE-D63B-77A04FBD4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827836"/>
              </p:ext>
            </p:extLst>
          </p:nvPr>
        </p:nvGraphicFramePr>
        <p:xfrm>
          <a:off x="914401" y="1467756"/>
          <a:ext cx="5181599" cy="2377440"/>
        </p:xfrm>
        <a:graphic>
          <a:graphicData uri="http://schemas.openxmlformats.org/drawingml/2006/table">
            <a:tbl>
              <a:tblPr/>
              <a:tblGrid>
                <a:gridCol w="2590799">
                  <a:extLst>
                    <a:ext uri="{9D8B030D-6E8A-4147-A177-3AD203B41FA5}">
                      <a16:colId xmlns:a16="http://schemas.microsoft.com/office/drawing/2014/main" val="391463339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247811846"/>
                    </a:ext>
                  </a:extLst>
                </a:gridCol>
              </a:tblGrid>
              <a:tr h="334776">
                <a:tc>
                  <a:txBody>
                    <a:bodyPr/>
                    <a:lstStyle/>
                    <a:p>
                      <a:r>
                        <a:rPr lang="en-IN" sz="2000" dirty="0"/>
                        <a:t>Age Group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Average Purchase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050236"/>
                  </a:ext>
                </a:extLst>
              </a:tr>
              <a:tr h="334776">
                <a:tc>
                  <a:txBody>
                    <a:bodyPr/>
                    <a:lstStyle/>
                    <a:p>
                      <a:r>
                        <a:rPr lang="en-IN" sz="2000"/>
                        <a:t>18–25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60.65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242876"/>
                  </a:ext>
                </a:extLst>
              </a:tr>
              <a:tr h="334776">
                <a:tc>
                  <a:txBody>
                    <a:bodyPr/>
                    <a:lstStyle/>
                    <a:p>
                      <a:r>
                        <a:rPr lang="en-IN" sz="2000" dirty="0"/>
                        <a:t>26–35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59.76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98928"/>
                  </a:ext>
                </a:extLst>
              </a:tr>
              <a:tr h="334776">
                <a:tc>
                  <a:txBody>
                    <a:bodyPr/>
                    <a:lstStyle/>
                    <a:p>
                      <a:r>
                        <a:rPr lang="en-IN" sz="2000" dirty="0"/>
                        <a:t>36–45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59.31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531288"/>
                  </a:ext>
                </a:extLst>
              </a:tr>
              <a:tr h="334776">
                <a:tc>
                  <a:txBody>
                    <a:bodyPr/>
                    <a:lstStyle/>
                    <a:p>
                      <a:r>
                        <a:rPr lang="en-IN" sz="2000"/>
                        <a:t>46–55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60.58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838588"/>
                  </a:ext>
                </a:extLst>
              </a:tr>
              <a:tr h="334776">
                <a:tc>
                  <a:txBody>
                    <a:bodyPr/>
                    <a:lstStyle/>
                    <a:p>
                      <a:r>
                        <a:rPr lang="en-IN" sz="2000"/>
                        <a:t>56+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59.06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26598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61B79B8-0921-CFE9-4DF5-8B427C2A7BDB}"/>
              </a:ext>
            </a:extLst>
          </p:cNvPr>
          <p:cNvSpPr txBox="1"/>
          <p:nvPr/>
        </p:nvSpPr>
        <p:spPr>
          <a:xfrm>
            <a:off x="788126" y="4033520"/>
            <a:ext cx="961208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Insight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Purchasing behavior remains relatively consistent across age groups.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Customers aged 18–25 and 46–55 show slightly higher average purchase values.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Spending patterns remain relatively stable across all age groups</a:t>
            </a:r>
          </a:p>
        </p:txBody>
      </p:sp>
    </p:spTree>
    <p:extLst>
      <p:ext uri="{BB962C8B-B14F-4D97-AF65-F5344CB8AC3E}">
        <p14:creationId xmlns:p14="http://schemas.microsoft.com/office/powerpoint/2010/main" val="2478210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0822D-B39F-5550-01D2-EE34F57D8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7" y="76200"/>
            <a:ext cx="10131425" cy="694266"/>
          </a:xfrm>
        </p:spPr>
        <p:txBody>
          <a:bodyPr/>
          <a:lstStyle/>
          <a:p>
            <a:r>
              <a:rPr lang="en-IN" b="1" u="sng" dirty="0"/>
              <a:t>Top Purchased Products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088A9-E725-64E0-E158-8AA19A032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4" y="770466"/>
            <a:ext cx="11005456" cy="588070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600" dirty="0"/>
              <a:t>Most Purchased Products</a:t>
            </a:r>
          </a:p>
          <a:p>
            <a:pPr marL="0" indent="0">
              <a:buNone/>
            </a:pPr>
            <a:r>
              <a:rPr lang="en-US" sz="3100" dirty="0"/>
              <a:t>Top purchased items include:</a:t>
            </a:r>
          </a:p>
          <a:p>
            <a:r>
              <a:rPr lang="en-US" sz="2900" dirty="0"/>
              <a:t>Blouse</a:t>
            </a:r>
          </a:p>
          <a:p>
            <a:r>
              <a:rPr lang="en-US" sz="2900" dirty="0"/>
              <a:t>Jewelry</a:t>
            </a:r>
          </a:p>
          <a:p>
            <a:r>
              <a:rPr lang="en-US" sz="2900" dirty="0"/>
              <a:t>Pants</a:t>
            </a:r>
          </a:p>
          <a:p>
            <a:r>
              <a:rPr lang="en-US" sz="2900" dirty="0"/>
              <a:t>Shirt</a:t>
            </a:r>
          </a:p>
          <a:p>
            <a:r>
              <a:rPr lang="en-US" sz="2900" dirty="0"/>
              <a:t>Dress</a:t>
            </a:r>
          </a:p>
          <a:p>
            <a:r>
              <a:rPr lang="en-US" sz="2900" dirty="0"/>
              <a:t>Sweater</a:t>
            </a:r>
          </a:p>
          <a:p>
            <a:pPr marL="0" indent="0">
              <a:buNone/>
            </a:pPr>
            <a:r>
              <a:rPr lang="en-US" sz="4000" dirty="0"/>
              <a:t>Analysis</a:t>
            </a:r>
          </a:p>
          <a:p>
            <a:pPr marL="0" indent="0">
              <a:buNone/>
            </a:pPr>
            <a:r>
              <a:rPr lang="en-US" sz="2900" dirty="0"/>
              <a:t>      These products show high customer demand.</a:t>
            </a:r>
          </a:p>
          <a:p>
            <a:pPr marL="0" indent="0">
              <a:buNone/>
            </a:pPr>
            <a:r>
              <a:rPr lang="en-US" sz="4000" dirty="0"/>
              <a:t>Business Impact</a:t>
            </a:r>
          </a:p>
          <a:p>
            <a:r>
              <a:rPr lang="en-US" sz="3200" dirty="0"/>
              <a:t>Fashion products contribute significantly to customer purchases.</a:t>
            </a:r>
          </a:p>
          <a:p>
            <a:r>
              <a:rPr lang="en-US" sz="3200" dirty="0"/>
              <a:t>Inventory planning should focus on high-demand products.</a:t>
            </a:r>
          </a:p>
          <a:p>
            <a:r>
              <a:rPr lang="en-US" sz="3200" dirty="0"/>
              <a:t>Promotional campaigns can target top-selling products to increase revenue.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726948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EF992-61F5-AD01-1193-684C907C4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1" y="152401"/>
            <a:ext cx="10131425" cy="1016000"/>
          </a:xfrm>
        </p:spPr>
        <p:txBody>
          <a:bodyPr/>
          <a:lstStyle/>
          <a:p>
            <a:r>
              <a:rPr lang="en-IN" u="sng" dirty="0"/>
              <a:t>Season &amp; location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30F11-6A07-EC7D-666F-E02B54214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16000"/>
            <a:ext cx="10131425" cy="5537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/>
              <a:t>Season Analysis</a:t>
            </a:r>
          </a:p>
          <a:p>
            <a:r>
              <a:rPr lang="en-IN" dirty="0"/>
              <a:t>Fall → Highest Revenue</a:t>
            </a:r>
          </a:p>
          <a:p>
            <a:r>
              <a:rPr lang="en-IN" dirty="0"/>
              <a:t>Spring → Strong Performance</a:t>
            </a:r>
          </a:p>
          <a:p>
            <a:r>
              <a:rPr lang="en-IN" dirty="0"/>
              <a:t>Winter → Moderate</a:t>
            </a:r>
          </a:p>
          <a:p>
            <a:r>
              <a:rPr lang="en-IN" dirty="0"/>
              <a:t>Summer → Lowest Revenue</a:t>
            </a:r>
          </a:p>
          <a:p>
            <a:pPr marL="0" indent="0">
              <a:buNone/>
            </a:pPr>
            <a:r>
              <a:rPr lang="en-IN" sz="2600" dirty="0"/>
              <a:t>Location Analysis</a:t>
            </a:r>
          </a:p>
          <a:p>
            <a:pPr marL="0" indent="0">
              <a:buNone/>
            </a:pPr>
            <a:r>
              <a:rPr lang="en-IN" sz="1900" u="sng" dirty="0"/>
              <a:t>Top Revenue States:</a:t>
            </a:r>
          </a:p>
          <a:p>
            <a:r>
              <a:rPr lang="en-IN" dirty="0"/>
              <a:t>Montana</a:t>
            </a:r>
          </a:p>
          <a:p>
            <a:r>
              <a:rPr lang="en-IN" dirty="0"/>
              <a:t>Illinois</a:t>
            </a:r>
          </a:p>
          <a:p>
            <a:r>
              <a:rPr lang="en-IN" dirty="0"/>
              <a:t>California</a:t>
            </a:r>
          </a:p>
          <a:p>
            <a:r>
              <a:rPr lang="en-IN" dirty="0"/>
              <a:t>Idaho</a:t>
            </a:r>
          </a:p>
          <a:p>
            <a:r>
              <a:rPr lang="en-IN" dirty="0"/>
              <a:t>Nevada</a:t>
            </a:r>
          </a:p>
          <a:p>
            <a:pPr marL="0" indent="0">
              <a:buNone/>
            </a:pPr>
            <a:r>
              <a:rPr lang="en-IN" sz="2200" dirty="0"/>
              <a:t>Conclusion Season and location influence purchasing trends.</a:t>
            </a:r>
          </a:p>
        </p:txBody>
      </p:sp>
    </p:spTree>
    <p:extLst>
      <p:ext uri="{BB962C8B-B14F-4D97-AF65-F5344CB8AC3E}">
        <p14:creationId xmlns:p14="http://schemas.microsoft.com/office/powerpoint/2010/main" val="3179126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61D3-28EB-E55F-5598-CEECB2F51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1229360"/>
          </a:xfrm>
        </p:spPr>
        <p:txBody>
          <a:bodyPr/>
          <a:lstStyle/>
          <a:p>
            <a:r>
              <a:rPr lang="en-IN" b="1" u="sng" dirty="0"/>
              <a:t>Payment method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505BA-4B6D-98E6-EF84-6E96048A3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71601"/>
            <a:ext cx="10131425" cy="441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Top Payment Methods:</a:t>
            </a:r>
          </a:p>
          <a:p>
            <a:r>
              <a:rPr lang="en-US" sz="2400" dirty="0"/>
              <a:t>Credit Card</a:t>
            </a:r>
          </a:p>
          <a:p>
            <a:r>
              <a:rPr lang="en-US" sz="2400" dirty="0"/>
              <a:t>Venmo</a:t>
            </a:r>
          </a:p>
          <a:p>
            <a:r>
              <a:rPr lang="en-US" sz="2400" dirty="0"/>
              <a:t>Cash</a:t>
            </a:r>
          </a:p>
          <a:p>
            <a:r>
              <a:rPr lang="en-US" sz="2400" dirty="0"/>
              <a:t>PayPal</a:t>
            </a:r>
          </a:p>
          <a:p>
            <a:r>
              <a:rPr lang="en-US" sz="2400" dirty="0"/>
              <a:t>Bank Transfer</a:t>
            </a:r>
          </a:p>
          <a:p>
            <a:pPr marL="0" indent="0">
              <a:buNone/>
            </a:pPr>
            <a:r>
              <a:rPr lang="en-US" sz="2400" dirty="0"/>
              <a:t>Observation Digital payments dominate customer transactions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08213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CD13-6FB3-6885-D4E4-F11EDA2F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047" y="432526"/>
            <a:ext cx="10131425" cy="1317171"/>
          </a:xfrm>
        </p:spPr>
        <p:txBody>
          <a:bodyPr>
            <a:normAutofit/>
          </a:bodyPr>
          <a:lstStyle/>
          <a:p>
            <a:r>
              <a:rPr lang="en-IN" b="1" u="sng" dirty="0"/>
              <a:t>Key Business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66D34-4C05-7470-BA2E-3F0AFAC18408}"/>
              </a:ext>
            </a:extLst>
          </p:cNvPr>
          <p:cNvSpPr txBox="1"/>
          <p:nvPr/>
        </p:nvSpPr>
        <p:spPr>
          <a:xfrm>
            <a:off x="954045" y="2105132"/>
            <a:ext cx="950322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Total Customers = 3900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Total Revenue = 233K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Average Purchase = $59.76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Clothing generates highest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Outerwear generates lowest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Fall season performs best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Male customers contribute more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Only 27% customers are subscribed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Low Value customers form largest segment</a:t>
            </a:r>
            <a:endParaRPr lang="en-US" sz="20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838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B881-F914-C6E6-96ED-F0F5CF546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38665"/>
            <a:ext cx="10131425" cy="1456267"/>
          </a:xfrm>
        </p:spPr>
        <p:txBody>
          <a:bodyPr/>
          <a:lstStyle/>
          <a:p>
            <a:r>
              <a:rPr lang="en-IN" b="1" u="sng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CC8E6-8026-A6C4-7548-79CEE1194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96721"/>
            <a:ext cx="10131425" cy="4094480"/>
          </a:xfrm>
        </p:spPr>
        <p:txBody>
          <a:bodyPr>
            <a:normAutofit/>
          </a:bodyPr>
          <a:lstStyle/>
          <a:p>
            <a:r>
              <a:rPr lang="en-US" sz="2400" dirty="0"/>
              <a:t>Offer discounts on Outerwear and Footwear.</a:t>
            </a:r>
          </a:p>
          <a:p>
            <a:r>
              <a:rPr lang="en-US" sz="2400" dirty="0"/>
              <a:t>Improve subscription benefits.</a:t>
            </a:r>
          </a:p>
          <a:p>
            <a:r>
              <a:rPr lang="en-US" sz="2400" dirty="0"/>
              <a:t>Create loyalty programs for High Value customers.</a:t>
            </a:r>
          </a:p>
          <a:p>
            <a:r>
              <a:rPr lang="en-US" sz="2400" dirty="0"/>
              <a:t>Run promotional campaigns for Low Value customers.</a:t>
            </a:r>
          </a:p>
          <a:p>
            <a:r>
              <a:rPr lang="en-US" sz="2400" dirty="0"/>
              <a:t>Focus marketing during Fall season.</a:t>
            </a:r>
          </a:p>
          <a:p>
            <a:r>
              <a:rPr lang="en-US" sz="2400" dirty="0"/>
              <a:t>Target top-performing locations with premium campaigns.</a:t>
            </a:r>
          </a:p>
          <a:p>
            <a:r>
              <a:rPr lang="en-US" sz="2400" dirty="0"/>
              <a:t>Promote digital payment offers.</a:t>
            </a:r>
          </a:p>
          <a:p>
            <a:r>
              <a:rPr lang="en-US" sz="2400" dirty="0"/>
              <a:t>Use customer segmentation for personalized marketing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73371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B6C0-133E-2A1F-C992-6DEC8DAFD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162560"/>
            <a:ext cx="10131425" cy="1456267"/>
          </a:xfrm>
        </p:spPr>
        <p:txBody>
          <a:bodyPr/>
          <a:lstStyle/>
          <a:p>
            <a:r>
              <a:rPr lang="en-IN" b="1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E892C-2D66-1CA7-4966-6610D4DDB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6" y="1856620"/>
            <a:ext cx="11723914" cy="4324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project successfully analyzed customer purchase behavior and segmented customers into High, Medium and Low Value groups.</a:t>
            </a:r>
          </a:p>
          <a:p>
            <a:pPr marL="0" indent="0">
              <a:buNone/>
            </a:pPr>
            <a:r>
              <a:rPr lang="en-US" sz="2400" dirty="0"/>
              <a:t>The analysis identified:</a:t>
            </a:r>
          </a:p>
          <a:p>
            <a:r>
              <a:rPr lang="en-US" sz="2400" dirty="0"/>
              <a:t>Best performing categories</a:t>
            </a:r>
          </a:p>
          <a:p>
            <a:r>
              <a:rPr lang="en-US" sz="2400" dirty="0"/>
              <a:t>Discount opportunities</a:t>
            </a:r>
          </a:p>
          <a:p>
            <a:r>
              <a:rPr lang="en-US" sz="2400" dirty="0"/>
              <a:t>Seasonal trends</a:t>
            </a:r>
          </a:p>
          <a:p>
            <a:r>
              <a:rPr lang="en-US" sz="2400" dirty="0"/>
              <a:t>Location-based trends</a:t>
            </a:r>
          </a:p>
          <a:p>
            <a:r>
              <a:rPr lang="en-US" sz="2400" dirty="0"/>
              <a:t>Customer spending behavior</a:t>
            </a:r>
          </a:p>
          <a:p>
            <a:pPr marL="0" indent="0">
              <a:buNone/>
            </a:pPr>
            <a:r>
              <a:rPr lang="en-US" sz="2400" dirty="0"/>
              <a:t>These insights help businesses improve revenue, retention and customer satisfaction.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92412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31118C-CE66-4AE5-2DD9-E441A9CB4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114" y="2514601"/>
            <a:ext cx="5192486" cy="1455738"/>
          </a:xfrm>
        </p:spPr>
        <p:txBody>
          <a:bodyPr>
            <a:normAutofit/>
          </a:bodyPr>
          <a:lstStyle/>
          <a:p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887140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577</TotalTime>
  <Words>697</Words>
  <Application>Microsoft Office PowerPoint</Application>
  <PresentationFormat>Widescreen</PresentationFormat>
  <Paragraphs>210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Celestial</vt:lpstr>
      <vt:lpstr>CDACL-002 - Customer Segmentation</vt:lpstr>
      <vt:lpstr>Project Overview</vt:lpstr>
      <vt:lpstr>Business Problem Statement</vt:lpstr>
      <vt:lpstr>Dataset Understanding</vt:lpstr>
      <vt:lpstr>Data preprocessing</vt:lpstr>
      <vt:lpstr>Customer segmentation</vt:lpstr>
      <vt:lpstr>Dashboard Overview</vt:lpstr>
      <vt:lpstr>Customer Segment Analysis</vt:lpstr>
      <vt:lpstr>Revenue Analysis</vt:lpstr>
      <vt:lpstr>Customer Behaviour Analysis</vt:lpstr>
      <vt:lpstr>PowerPoint Presentation</vt:lpstr>
      <vt:lpstr>Top Purchased Products Analysis</vt:lpstr>
      <vt:lpstr>Season &amp; location analysis</vt:lpstr>
      <vt:lpstr>Payment method analysis</vt:lpstr>
      <vt:lpstr>Key Business Insights</vt:lpstr>
      <vt:lpstr>Business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Prabu vijay</dc:creator>
  <cp:lastModifiedBy>Prabu vijay</cp:lastModifiedBy>
  <cp:revision>36</cp:revision>
  <dcterms:created xsi:type="dcterms:W3CDTF">2026-05-12T17:39:25Z</dcterms:created>
  <dcterms:modified xsi:type="dcterms:W3CDTF">2026-06-19T17:04:02Z</dcterms:modified>
</cp:coreProperties>
</file>